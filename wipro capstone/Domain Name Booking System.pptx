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9753600" cy="7315200"/>
  <p:notesSz cx="6858000" cy="9144000"/>
  <p:embeddedFontLst>
    <p:embeddedFont>
      <p:font typeface="Hero Bold" charset="1" panose="00000500000000000000"/>
      <p:regular r:id="rId16"/>
    </p:embeddedFont>
    <p:embeddedFont>
      <p:font typeface="Hero" charset="1" panose="00000500000000000000"/>
      <p:regular r:id="rId17"/>
    </p:embeddedFont>
    <p:embeddedFont>
      <p:font typeface="Canva Sans Bold" charset="1" panose="020B0803030501040103"/>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embeddings/oleObject1.bin" Type="http://schemas.openxmlformats.org/officeDocument/2006/relationships/oleObjec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1567759" y="5417832"/>
            <a:ext cx="4570452" cy="306070"/>
          </a:xfrm>
          <a:prstGeom prst="rect">
            <a:avLst/>
          </a:prstGeom>
        </p:spPr>
        <p:txBody>
          <a:bodyPr anchor="t" rtlCol="false" tIns="0" lIns="0" bIns="0" rIns="0">
            <a:spAutoFit/>
          </a:bodyPr>
          <a:lstStyle/>
          <a:p>
            <a:pPr algn="ctr">
              <a:lnSpc>
                <a:spcPts val="2299"/>
              </a:lnSpc>
              <a:spcBef>
                <a:spcPct val="0"/>
              </a:spcBef>
            </a:pPr>
            <a:r>
              <a:rPr lang="en-US" sz="2299">
                <a:solidFill>
                  <a:srgbClr val="000000"/>
                </a:solidFill>
                <a:latin typeface="Hero Bold"/>
                <a:ea typeface="Hero Bold"/>
                <a:cs typeface="Hero Bold"/>
                <a:sym typeface="Hero Bold"/>
              </a:rPr>
              <a:t>Domain Name: Booking System</a:t>
            </a:r>
            <a:r>
              <a:rPr lang="en-US" sz="2299">
                <a:solidFill>
                  <a:srgbClr val="000000"/>
                </a:solidFill>
                <a:latin typeface="Hero"/>
                <a:ea typeface="Hero"/>
                <a:cs typeface="Hero"/>
                <a:sym typeface="Hero"/>
              </a:rPr>
              <a:t> </a:t>
            </a:r>
          </a:p>
        </p:txBody>
      </p:sp>
      <p:sp>
        <p:nvSpPr>
          <p:cNvPr name="TextBox 5" id="5"/>
          <p:cNvSpPr txBox="true"/>
          <p:nvPr/>
        </p:nvSpPr>
        <p:spPr>
          <a:xfrm rot="0">
            <a:off x="1227597" y="1936461"/>
            <a:ext cx="5250775" cy="380999"/>
          </a:xfrm>
          <a:prstGeom prst="rect">
            <a:avLst/>
          </a:prstGeom>
        </p:spPr>
        <p:txBody>
          <a:bodyPr anchor="t" rtlCol="false" tIns="0" lIns="0" bIns="0" rIns="0">
            <a:spAutoFit/>
          </a:bodyPr>
          <a:lstStyle/>
          <a:p>
            <a:pPr algn="ctr">
              <a:lnSpc>
                <a:spcPts val="2999"/>
              </a:lnSpc>
              <a:spcBef>
                <a:spcPct val="0"/>
              </a:spcBef>
            </a:pPr>
            <a:r>
              <a:rPr lang="en-US" b="true" sz="2999">
                <a:solidFill>
                  <a:srgbClr val="000000"/>
                </a:solidFill>
                <a:latin typeface="Canva Sans Bold"/>
                <a:ea typeface="Canva Sans Bold"/>
                <a:cs typeface="Canva Sans Bold"/>
                <a:sym typeface="Canva Sans Bold"/>
              </a:rPr>
              <a:t>WIPRO CAPSTONE PROJECT</a:t>
            </a:r>
          </a:p>
        </p:txBody>
      </p:sp>
      <p:sp>
        <p:nvSpPr>
          <p:cNvPr name="TextBox 6" id="6"/>
          <p:cNvSpPr txBox="true"/>
          <p:nvPr/>
        </p:nvSpPr>
        <p:spPr>
          <a:xfrm rot="0">
            <a:off x="731520" y="3025002"/>
            <a:ext cx="6765370" cy="1509579"/>
          </a:xfrm>
          <a:prstGeom prst="rect">
            <a:avLst/>
          </a:prstGeom>
        </p:spPr>
        <p:txBody>
          <a:bodyPr anchor="t" rtlCol="false" tIns="0" lIns="0" bIns="0" rIns="0">
            <a:spAutoFit/>
          </a:bodyPr>
          <a:lstStyle/>
          <a:p>
            <a:pPr algn="ctr">
              <a:lnSpc>
                <a:spcPts val="3932"/>
              </a:lnSpc>
              <a:spcBef>
                <a:spcPct val="0"/>
              </a:spcBef>
            </a:pPr>
            <a:r>
              <a:rPr lang="en-US" b="true" sz="3932">
                <a:solidFill>
                  <a:srgbClr val="000000"/>
                </a:solidFill>
                <a:latin typeface="Canva Sans Bold"/>
                <a:ea typeface="Canva Sans Bold"/>
                <a:cs typeface="Canva Sans Bold"/>
                <a:sym typeface="Canva Sans Bold"/>
              </a:rPr>
              <a:t>Automati</a:t>
            </a:r>
            <a:r>
              <a:rPr lang="en-US" b="true" sz="3932">
                <a:solidFill>
                  <a:srgbClr val="000000"/>
                </a:solidFill>
                <a:latin typeface="Canva Sans Bold"/>
                <a:ea typeface="Canva Sans Bold"/>
                <a:cs typeface="Canva Sans Bold"/>
                <a:sym typeface="Canva Sans Bold"/>
              </a:rPr>
              <a:t>on Testing Project </a:t>
            </a:r>
          </a:p>
          <a:p>
            <a:pPr algn="ctr">
              <a:lnSpc>
                <a:spcPts val="3932"/>
              </a:lnSpc>
              <a:spcBef>
                <a:spcPct val="0"/>
              </a:spcBef>
            </a:pPr>
          </a:p>
          <a:p>
            <a:pPr algn="ctr">
              <a:lnSpc>
                <a:spcPts val="3932"/>
              </a:lnSpc>
              <a:spcBef>
                <a:spcPct val="0"/>
              </a:spcBef>
            </a:pPr>
            <a:r>
              <a:rPr lang="en-US" b="true" sz="3932">
                <a:solidFill>
                  <a:srgbClr val="000000"/>
                </a:solidFill>
                <a:latin typeface="Canva Sans Bold"/>
                <a:ea typeface="Canva Sans Bold"/>
                <a:cs typeface="Canva Sans Bold"/>
                <a:sym typeface="Canva Sans Bold"/>
              </a:rPr>
              <a:t>Make My Trip Booking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graphicFrame>
        <p:nvGraphicFramePr>
          <p:cNvPr name="Object 4" id="4"/>
          <p:cNvGraphicFramePr/>
          <p:nvPr/>
        </p:nvGraphicFramePr>
        <p:xfrm>
          <a:off x="881440" y="1766963"/>
          <a:ext cx="3771900" cy="4400550"/>
        </p:xfrm>
        <a:graphic>
          <a:graphicData uri="http://schemas.openxmlformats.org/presentationml/2006/ole">
            <p:oleObj imgW="4648200" imgH="5270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1773419" y="478790"/>
            <a:ext cx="5074087"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Travel Insurance</a:t>
            </a:r>
          </a:p>
        </p:txBody>
      </p:sp>
      <p:sp>
        <p:nvSpPr>
          <p:cNvPr name="TextBox 5" id="5"/>
          <p:cNvSpPr txBox="true"/>
          <p:nvPr/>
        </p:nvSpPr>
        <p:spPr>
          <a:xfrm rot="0">
            <a:off x="416404" y="1219395"/>
            <a:ext cx="6866977" cy="1480380"/>
          </a:xfrm>
          <a:prstGeom prst="rect">
            <a:avLst/>
          </a:prstGeom>
        </p:spPr>
        <p:txBody>
          <a:bodyPr anchor="t" rtlCol="false" tIns="0" lIns="0" bIns="0" rIns="0">
            <a:spAutoFit/>
          </a:bodyPr>
          <a:lstStyle/>
          <a:p>
            <a:pPr algn="just">
              <a:lnSpc>
                <a:spcPts val="1987"/>
              </a:lnSpc>
            </a:pPr>
            <a:r>
              <a:rPr lang="en-US" b="true" sz="1494" spc="85">
                <a:solidFill>
                  <a:srgbClr val="000000"/>
                </a:solidFill>
                <a:latin typeface="Canva Sans Bold"/>
                <a:ea typeface="Canva Sans Bold"/>
                <a:cs typeface="Canva Sans Bold"/>
                <a:sym typeface="Canva Sans Bold"/>
              </a:rPr>
              <a:t>Objective-</a:t>
            </a:r>
            <a:r>
              <a:rPr lang="en-US" sz="1494" spc="85">
                <a:solidFill>
                  <a:srgbClr val="000000"/>
                </a:solidFill>
                <a:latin typeface="Canva Sans"/>
                <a:ea typeface="Canva Sans"/>
                <a:cs typeface="Canva Sans"/>
                <a:sym typeface="Canva Sans"/>
              </a:rPr>
              <a:t>This capst</a:t>
            </a:r>
            <a:r>
              <a:rPr lang="en-US" sz="1494" spc="85">
                <a:solidFill>
                  <a:srgbClr val="000000"/>
                </a:solidFill>
                <a:latin typeface="Canva Sans"/>
                <a:ea typeface="Canva Sans"/>
                <a:cs typeface="Canva Sans"/>
                <a:sym typeface="Canva Sans"/>
              </a:rPr>
              <a:t>one project aims to build a scalable BDD automation framework using Selenium and Cucumber to validate end-to-end travel booking workflows. Key objectives include writing human-readable Gherkin feature files, implementing a reusable Page Object Model, handling complex dynamic elements, and generating detailed execution reports with failure screenshots.</a:t>
            </a:r>
          </a:p>
        </p:txBody>
      </p:sp>
      <p:sp>
        <p:nvSpPr>
          <p:cNvPr name="Freeform 6" id="6"/>
          <p:cNvSpPr/>
          <p:nvPr/>
        </p:nvSpPr>
        <p:spPr>
          <a:xfrm flipH="false" flipV="false" rot="-5400000">
            <a:off x="4374295" y="2126595"/>
            <a:ext cx="7483383" cy="3275227"/>
          </a:xfrm>
          <a:custGeom>
            <a:avLst/>
            <a:gdLst/>
            <a:ahLst/>
            <a:cxnLst/>
            <a:rect r="r" b="b" t="t" l="l"/>
            <a:pathLst>
              <a:path h="3275227" w="7483383">
                <a:moveTo>
                  <a:pt x="0" y="0"/>
                </a:moveTo>
                <a:lnTo>
                  <a:pt x="7483383" y="0"/>
                </a:lnTo>
                <a:lnTo>
                  <a:pt x="7483383" y="3275228"/>
                </a:lnTo>
                <a:lnTo>
                  <a:pt x="0" y="32752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7" id="7"/>
          <p:cNvSpPr/>
          <p:nvPr/>
        </p:nvSpPr>
        <p:spPr>
          <a:xfrm>
            <a:off x="3993684" y="3292482"/>
            <a:ext cx="19050" cy="4010614"/>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4229620" y="3479082"/>
            <a:ext cx="3886366" cy="164528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for International Travel + Medical Insurance &amp; Assistance</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for Choose plan for your Trip</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Traveller Details</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for Form filled</a:t>
            </a:r>
          </a:p>
          <a:p>
            <a:pPr algn="l">
              <a:lnSpc>
                <a:spcPts val="2239"/>
              </a:lnSpc>
            </a:pPr>
          </a:p>
        </p:txBody>
      </p:sp>
      <p:sp>
        <p:nvSpPr>
          <p:cNvPr name="TextBox 9" id="9"/>
          <p:cNvSpPr txBox="true"/>
          <p:nvPr/>
        </p:nvSpPr>
        <p:spPr>
          <a:xfrm rot="0">
            <a:off x="4172794" y="2976000"/>
            <a:ext cx="3123605"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000000"/>
                </a:solidFill>
                <a:latin typeface="Canva Sans Bold"/>
                <a:ea typeface="Canva Sans Bold"/>
                <a:cs typeface="Canva Sans Bold"/>
                <a:sym typeface="Canva Sans Bold"/>
              </a:rPr>
              <a:t>Positive Test Scenarios</a:t>
            </a:r>
          </a:p>
        </p:txBody>
      </p:sp>
      <p:sp>
        <p:nvSpPr>
          <p:cNvPr name="TextBox 10" id="10"/>
          <p:cNvSpPr txBox="true"/>
          <p:nvPr/>
        </p:nvSpPr>
        <p:spPr>
          <a:xfrm rot="0">
            <a:off x="4310462" y="4974506"/>
            <a:ext cx="3246715"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000000"/>
                </a:solidFill>
                <a:latin typeface="Canva Sans Bold"/>
                <a:ea typeface="Canva Sans Bold"/>
                <a:cs typeface="Canva Sans Bold"/>
                <a:sym typeface="Canva Sans Bold"/>
              </a:rPr>
              <a:t>Negative </a:t>
            </a:r>
            <a:r>
              <a:rPr lang="en-US" b="true" sz="2199">
                <a:solidFill>
                  <a:srgbClr val="000000"/>
                </a:solidFill>
                <a:latin typeface="Canva Sans Bold"/>
                <a:ea typeface="Canva Sans Bold"/>
                <a:cs typeface="Canva Sans Bold"/>
                <a:sym typeface="Canva Sans Bold"/>
              </a:rPr>
              <a:t>Test Scenarios</a:t>
            </a:r>
          </a:p>
        </p:txBody>
      </p:sp>
      <p:sp>
        <p:nvSpPr>
          <p:cNvPr name="TextBox 11" id="11"/>
          <p:cNvSpPr txBox="true"/>
          <p:nvPr/>
        </p:nvSpPr>
        <p:spPr>
          <a:xfrm rot="0">
            <a:off x="4229620" y="5480602"/>
            <a:ext cx="3477998" cy="164528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error for blank DOB</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error for blank mobile number</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Check error for wrong mobile number </a:t>
            </a:r>
          </a:p>
          <a:p>
            <a:pPr algn="l">
              <a:lnSpc>
                <a:spcPts val="2239"/>
              </a:lnSpc>
            </a:pPr>
          </a:p>
        </p:txBody>
      </p:sp>
      <p:sp>
        <p:nvSpPr>
          <p:cNvPr name="TextBox 12" id="12"/>
          <p:cNvSpPr txBox="true"/>
          <p:nvPr/>
        </p:nvSpPr>
        <p:spPr>
          <a:xfrm rot="0">
            <a:off x="785250" y="2976000"/>
            <a:ext cx="2534483" cy="372745"/>
          </a:xfrm>
          <a:prstGeom prst="rect">
            <a:avLst/>
          </a:prstGeom>
        </p:spPr>
        <p:txBody>
          <a:bodyPr anchor="t" rtlCol="false" tIns="0" lIns="0" bIns="0" rIns="0">
            <a:spAutoFit/>
          </a:bodyPr>
          <a:lstStyle/>
          <a:p>
            <a:pPr algn="ctr">
              <a:lnSpc>
                <a:spcPts val="3079"/>
              </a:lnSpc>
              <a:spcBef>
                <a:spcPct val="0"/>
              </a:spcBef>
            </a:pPr>
            <a:r>
              <a:rPr lang="en-US" b="true" sz="2199">
                <a:solidFill>
                  <a:srgbClr val="000000"/>
                </a:solidFill>
                <a:latin typeface="Canva Sans Bold"/>
                <a:ea typeface="Canva Sans Bold"/>
                <a:cs typeface="Canva Sans Bold"/>
                <a:sym typeface="Canva Sans Bold"/>
              </a:rPr>
              <a:t>Flow </a:t>
            </a:r>
            <a:r>
              <a:rPr lang="en-US" b="true" sz="2199">
                <a:solidFill>
                  <a:srgbClr val="000000"/>
                </a:solidFill>
                <a:latin typeface="Canva Sans Bold"/>
                <a:ea typeface="Canva Sans Bold"/>
                <a:cs typeface="Canva Sans Bold"/>
                <a:sym typeface="Canva Sans Bold"/>
              </a:rPr>
              <a:t>of End to End</a:t>
            </a:r>
          </a:p>
        </p:txBody>
      </p:sp>
      <p:sp>
        <p:nvSpPr>
          <p:cNvPr name="TextBox 13" id="13"/>
          <p:cNvSpPr txBox="true"/>
          <p:nvPr/>
        </p:nvSpPr>
        <p:spPr>
          <a:xfrm rot="0">
            <a:off x="357908" y="3479082"/>
            <a:ext cx="3491984" cy="3460115"/>
          </a:xfrm>
          <a:prstGeom prst="rect">
            <a:avLst/>
          </a:prstGeom>
        </p:spPr>
        <p:txBody>
          <a:bodyPr anchor="t" rtlCol="false" tIns="0" lIns="0" bIns="0" rIns="0">
            <a:spAutoFit/>
          </a:bodyPr>
          <a:lstStyle/>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Ope</a:t>
            </a:r>
            <a:r>
              <a:rPr lang="en-US" sz="1400">
                <a:solidFill>
                  <a:srgbClr val="000000"/>
                </a:solidFill>
                <a:latin typeface="Canva Sans"/>
                <a:ea typeface="Canva Sans"/>
                <a:cs typeface="Canva Sans"/>
                <a:sym typeface="Canva Sans"/>
              </a:rPr>
              <a:t>n the MakeMyTrip website.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Close the initial login popup.</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Op</a:t>
            </a:r>
            <a:r>
              <a:rPr lang="en-US" sz="1400">
                <a:solidFill>
                  <a:srgbClr val="000000"/>
                </a:solidFill>
                <a:latin typeface="Canva Sans"/>
                <a:ea typeface="Canva Sans"/>
                <a:cs typeface="Canva Sans"/>
                <a:sym typeface="Canva Sans"/>
              </a:rPr>
              <a:t>en the travel insurance page.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Input data for destination and number of travelers, then click on explore.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Choose a plan.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Fill details like name, date of birth, email, mobile number, and gender.</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Click on the buy button.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When the login popup opens, enter your mobile number, click the checkbox, and hit the c</a:t>
            </a:r>
            <a:r>
              <a:rPr lang="en-US" sz="1400">
                <a:solidFill>
                  <a:srgbClr val="000000"/>
                </a:solidFill>
                <a:latin typeface="Canva Sans"/>
                <a:ea typeface="Canva Sans"/>
                <a:cs typeface="Canva Sans"/>
                <a:sym typeface="Canva Sans"/>
              </a:rPr>
              <a:t>ontinue button.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2388973" y="451260"/>
            <a:ext cx="3376494"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Buses</a:t>
            </a:r>
          </a:p>
        </p:txBody>
      </p:sp>
      <p:sp>
        <p:nvSpPr>
          <p:cNvPr name="TextBox 5" id="5"/>
          <p:cNvSpPr txBox="true"/>
          <p:nvPr/>
        </p:nvSpPr>
        <p:spPr>
          <a:xfrm rot="0">
            <a:off x="226556" y="1559298"/>
            <a:ext cx="7032446" cy="1231265"/>
          </a:xfrm>
          <a:prstGeom prst="rect">
            <a:avLst/>
          </a:prstGeom>
        </p:spPr>
        <p:txBody>
          <a:bodyPr anchor="t" rtlCol="false" tIns="0" lIns="0" bIns="0" rIns="0">
            <a:spAutoFit/>
          </a:bodyPr>
          <a:lstStyle/>
          <a:p>
            <a:pPr algn="just">
              <a:lnSpc>
                <a:spcPts val="1959"/>
              </a:lnSpc>
              <a:spcBef>
                <a:spcPct val="0"/>
              </a:spcBef>
            </a:pPr>
            <a:r>
              <a:rPr lang="en-US" b="true" sz="1399">
                <a:solidFill>
                  <a:srgbClr val="000000"/>
                </a:solidFill>
                <a:latin typeface="Canva Sans Bold"/>
                <a:ea typeface="Canva Sans Bold"/>
                <a:cs typeface="Canva Sans Bold"/>
                <a:sym typeface="Canva Sans Bold"/>
              </a:rPr>
              <a:t>Objective</a:t>
            </a:r>
            <a:r>
              <a:rPr lang="en-US" sz="1399">
                <a:solidFill>
                  <a:srgbClr val="000000"/>
                </a:solidFill>
                <a:latin typeface="Canva Sans"/>
                <a:ea typeface="Canva Sans"/>
                <a:cs typeface="Canva Sans"/>
                <a:sym typeface="Canva Sans"/>
              </a:rPr>
              <a:t>: Develop an automation testing framework for the MakeMyTrip Buses module using Selenium WebDriver with Pytest and BDD Behave frameworks to validate bus search, route verification, filter handling, seat selection, booking validation, and payment navigation with Data-Driven Testing, Allure Reporting, logging, and screenshot capturing.</a:t>
            </a:r>
          </a:p>
        </p:txBody>
      </p:sp>
      <p:sp>
        <p:nvSpPr>
          <p:cNvPr name="AutoShape 6" id="6"/>
          <p:cNvSpPr/>
          <p:nvPr/>
        </p:nvSpPr>
        <p:spPr>
          <a:xfrm>
            <a:off x="3841284" y="3140082"/>
            <a:ext cx="19050" cy="4010614"/>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4316476" y="3768800"/>
            <a:ext cx="2897981" cy="12312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Route Validation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Sleeper Filter Validation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Seat Selection Verification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Booking Page Route Validation</a:t>
            </a:r>
          </a:p>
          <a:p>
            <a:pPr algn="l">
              <a:lnSpc>
                <a:spcPts val="1960"/>
              </a:lnSpc>
            </a:pPr>
          </a:p>
        </p:txBody>
      </p:sp>
      <p:sp>
        <p:nvSpPr>
          <p:cNvPr name="TextBox 8" id="8"/>
          <p:cNvSpPr txBox="true"/>
          <p:nvPr/>
        </p:nvSpPr>
        <p:spPr>
          <a:xfrm rot="0">
            <a:off x="4077220" y="3220319"/>
            <a:ext cx="2839879"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Positive Test Scenarios</a:t>
            </a:r>
          </a:p>
        </p:txBody>
      </p:sp>
      <p:sp>
        <p:nvSpPr>
          <p:cNvPr name="TextBox 9" id="9"/>
          <p:cNvSpPr txBox="true"/>
          <p:nvPr/>
        </p:nvSpPr>
        <p:spPr>
          <a:xfrm rot="0">
            <a:off x="4077220" y="5005316"/>
            <a:ext cx="2951797"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Negative </a:t>
            </a:r>
            <a:r>
              <a:rPr lang="en-US" b="true" sz="2000">
                <a:solidFill>
                  <a:srgbClr val="000000"/>
                </a:solidFill>
                <a:latin typeface="Canva Sans Bold"/>
                <a:ea typeface="Canva Sans Bold"/>
                <a:cs typeface="Canva Sans Bold"/>
                <a:sym typeface="Canva Sans Bold"/>
              </a:rPr>
              <a:t>Test Scenarios</a:t>
            </a:r>
          </a:p>
        </p:txBody>
      </p:sp>
      <p:sp>
        <p:nvSpPr>
          <p:cNvPr name="TextBox 10" id="10"/>
          <p:cNvSpPr txBox="true"/>
          <p:nvPr/>
        </p:nvSpPr>
        <p:spPr>
          <a:xfrm rot="0">
            <a:off x="4316476" y="5600065"/>
            <a:ext cx="3040701" cy="98361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Same Source and Destination Validation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No Buses Found Validation </a:t>
            </a:r>
          </a:p>
          <a:p>
            <a:pPr algn="l">
              <a:lnSpc>
                <a:spcPts val="1960"/>
              </a:lnSpc>
            </a:pPr>
          </a:p>
        </p:txBody>
      </p:sp>
      <p:sp>
        <p:nvSpPr>
          <p:cNvPr name="TextBox 11" id="11"/>
          <p:cNvSpPr txBox="true"/>
          <p:nvPr/>
        </p:nvSpPr>
        <p:spPr>
          <a:xfrm rot="0">
            <a:off x="365868" y="3220319"/>
            <a:ext cx="230433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Flow </a:t>
            </a:r>
            <a:r>
              <a:rPr lang="en-US" b="true" sz="2000">
                <a:solidFill>
                  <a:srgbClr val="000000"/>
                </a:solidFill>
                <a:latin typeface="Canva Sans Bold"/>
                <a:ea typeface="Canva Sans Bold"/>
                <a:cs typeface="Canva Sans Bold"/>
                <a:sym typeface="Canva Sans Bold"/>
              </a:rPr>
              <a:t>of End to End</a:t>
            </a:r>
          </a:p>
        </p:txBody>
      </p:sp>
      <p:sp>
        <p:nvSpPr>
          <p:cNvPr name="TextBox 12" id="12"/>
          <p:cNvSpPr txBox="true"/>
          <p:nvPr/>
        </p:nvSpPr>
        <p:spPr>
          <a:xfrm rot="0">
            <a:off x="250794" y="3583234"/>
            <a:ext cx="3491984" cy="3212465"/>
          </a:xfrm>
          <a:prstGeom prst="rect">
            <a:avLst/>
          </a:prstGeom>
        </p:spPr>
        <p:txBody>
          <a:bodyPr anchor="t" rtlCol="false" tIns="0" lIns="0" bIns="0" rIns="0">
            <a:spAutoFit/>
          </a:bodyPr>
          <a:lstStyle/>
          <a:p>
            <a:pPr algn="just">
              <a:lnSpc>
                <a:spcPts val="1960"/>
              </a:lnSpc>
            </a:pP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Launch MakeMyTrip application</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Close login popup</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Navigate to Buses module</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Enter source and destination city</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Select journey date and search buses</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Apply AC filter</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Select available bus and seat</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Verify boarding and dropping points</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Enter passenger details</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Proceed to payment page</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Enter card details</a:t>
            </a:r>
          </a:p>
          <a:p>
            <a:pPr algn="just" marL="302261" indent="-151130" lvl="1">
              <a:lnSpc>
                <a:spcPts val="1960"/>
              </a:lnSpc>
              <a:buAutoNum type="arabicPeriod" startAt="1"/>
            </a:pPr>
            <a:r>
              <a:rPr lang="en-US" sz="1400">
                <a:solidFill>
                  <a:srgbClr val="000000"/>
                </a:solidFill>
                <a:latin typeface="Canva Sans"/>
                <a:ea typeface="Canva Sans"/>
                <a:cs typeface="Canva Sans"/>
                <a:sym typeface="Canva Sans"/>
              </a:rPr>
              <a:t>Close the browser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168751"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2386621" y="451260"/>
            <a:ext cx="3501182"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Flights</a:t>
            </a:r>
          </a:p>
        </p:txBody>
      </p:sp>
      <p:sp>
        <p:nvSpPr>
          <p:cNvPr name="TextBox 5" id="5"/>
          <p:cNvSpPr txBox="true"/>
          <p:nvPr/>
        </p:nvSpPr>
        <p:spPr>
          <a:xfrm rot="0">
            <a:off x="442359" y="1278361"/>
            <a:ext cx="7389705" cy="1257300"/>
          </a:xfrm>
          <a:prstGeom prst="rect">
            <a:avLst/>
          </a:prstGeom>
        </p:spPr>
        <p:txBody>
          <a:bodyPr anchor="t" rtlCol="false" tIns="0" lIns="0" bIns="0" rIns="0">
            <a:spAutoFit/>
          </a:bodyPr>
          <a:lstStyle/>
          <a:p>
            <a:pPr algn="l">
              <a:lnSpc>
                <a:spcPts val="1960"/>
              </a:lnSpc>
            </a:pPr>
            <a:r>
              <a:rPr lang="en-US" sz="1400" b="true">
                <a:solidFill>
                  <a:srgbClr val="000000"/>
                </a:solidFill>
                <a:latin typeface="Canva Sans Bold"/>
                <a:ea typeface="Canva Sans Bold"/>
                <a:cs typeface="Canva Sans Bold"/>
                <a:sym typeface="Canva Sans Bold"/>
              </a:rPr>
              <a:t>Objective</a:t>
            </a:r>
            <a:r>
              <a:rPr lang="en-US" sz="1400">
                <a:solidFill>
                  <a:srgbClr val="000000"/>
                </a:solidFill>
                <a:latin typeface="Canva Sans"/>
                <a:ea typeface="Canva Sans"/>
                <a:cs typeface="Canva Sans"/>
                <a:sym typeface="Canva Sans"/>
              </a:rPr>
              <a:t>: Automate and validate the end-to-end booking workflow for the Flights module on MakeMyTrip using Selenium + Pytest and BDD + Behave frameworks. The framework verifies search workflows, booking flow validations, filtering capabilities, passenger restrictions, and responsive interactions across multiple scenarios.</a:t>
            </a:r>
          </a:p>
          <a:p>
            <a:pPr algn="l">
              <a:lnSpc>
                <a:spcPts val="2240"/>
              </a:lnSpc>
              <a:spcBef>
                <a:spcPct val="0"/>
              </a:spcBef>
            </a:pPr>
          </a:p>
        </p:txBody>
      </p:sp>
      <p:sp>
        <p:nvSpPr>
          <p:cNvPr name="AutoShape 6" id="6"/>
          <p:cNvSpPr/>
          <p:nvPr/>
        </p:nvSpPr>
        <p:spPr>
          <a:xfrm>
            <a:off x="4357103" y="2535660"/>
            <a:ext cx="0" cy="4520406"/>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4700290" y="2478022"/>
            <a:ext cx="2556123" cy="297180"/>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Canva Sans Bold"/>
                <a:ea typeface="Canva Sans Bold"/>
                <a:cs typeface="Canva Sans Bold"/>
                <a:sym typeface="Canva Sans Bold"/>
              </a:rPr>
              <a:t>Positive Test Scenarios</a:t>
            </a:r>
          </a:p>
        </p:txBody>
      </p:sp>
      <p:sp>
        <p:nvSpPr>
          <p:cNvPr name="TextBox 8" id="8"/>
          <p:cNvSpPr txBox="true"/>
          <p:nvPr/>
        </p:nvSpPr>
        <p:spPr>
          <a:xfrm rot="0">
            <a:off x="4700290" y="4353655"/>
            <a:ext cx="2361307"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Canva Sans Bold"/>
                <a:ea typeface="Canva Sans Bold"/>
                <a:cs typeface="Canva Sans Bold"/>
                <a:sym typeface="Canva Sans Bold"/>
              </a:rPr>
              <a:t>Negative Test Scenarios</a:t>
            </a:r>
          </a:p>
        </p:txBody>
      </p:sp>
      <p:sp>
        <p:nvSpPr>
          <p:cNvPr name="TextBox 9" id="9"/>
          <p:cNvSpPr txBox="true"/>
          <p:nvPr/>
        </p:nvSpPr>
        <p:spPr>
          <a:xfrm rot="0">
            <a:off x="4576994" y="4706725"/>
            <a:ext cx="3349745" cy="2306205"/>
          </a:xfrm>
          <a:prstGeom prst="rect">
            <a:avLst/>
          </a:prstGeom>
        </p:spPr>
        <p:txBody>
          <a:bodyPr anchor="t" rtlCol="false" tIns="0" lIns="0" bIns="0" rIns="0">
            <a:spAutoFit/>
          </a:bodyPr>
          <a:lstStyle/>
          <a:p>
            <a:pPr algn="l" marL="314032" indent="-157016" lvl="1">
              <a:lnSpc>
                <a:spcPts val="2036"/>
              </a:lnSpc>
              <a:buFont typeface="Arial"/>
              <a:buChar char="•"/>
            </a:pPr>
            <a:r>
              <a:rPr lang="en-US" sz="1454">
                <a:solidFill>
                  <a:srgbClr val="000000"/>
                </a:solidFill>
                <a:latin typeface="Canva Sans"/>
                <a:ea typeface="Canva Sans"/>
                <a:cs typeface="Canva Sans"/>
                <a:sym typeface="Canva Sans"/>
              </a:rPr>
              <a:t>Infant Restriction Valid</a:t>
            </a:r>
            <a:r>
              <a:rPr lang="en-US" sz="1454">
                <a:solidFill>
                  <a:srgbClr val="000000"/>
                </a:solidFill>
                <a:latin typeface="Canva Sans"/>
                <a:ea typeface="Canva Sans"/>
                <a:cs typeface="Canva Sans"/>
                <a:sym typeface="Canva Sans"/>
              </a:rPr>
              <a:t>ation</a:t>
            </a:r>
          </a:p>
          <a:p>
            <a:pPr algn="l">
              <a:lnSpc>
                <a:spcPts val="2036"/>
              </a:lnSpc>
            </a:pPr>
            <a:r>
              <a:rPr lang="en-US" sz="1454">
                <a:solidFill>
                  <a:srgbClr val="000000"/>
                </a:solidFill>
                <a:latin typeface="Canva Sans"/>
                <a:ea typeface="Canva Sans"/>
                <a:cs typeface="Canva Sans"/>
                <a:sym typeface="Canva Sans"/>
              </a:rPr>
              <a:t>       [Verify error when number of</a:t>
            </a:r>
          </a:p>
          <a:p>
            <a:pPr algn="l">
              <a:lnSpc>
                <a:spcPts val="2036"/>
              </a:lnSpc>
            </a:pPr>
            <a:r>
              <a:rPr lang="en-US" sz="1454">
                <a:solidFill>
                  <a:srgbClr val="000000"/>
                </a:solidFill>
                <a:latin typeface="Canva Sans"/>
                <a:ea typeface="Canva Sans"/>
                <a:cs typeface="Canva Sans"/>
                <a:sym typeface="Canva Sans"/>
              </a:rPr>
              <a:t>       infants exceeds adults.]</a:t>
            </a:r>
          </a:p>
          <a:p>
            <a:pPr algn="l" marL="314032" indent="-157016" lvl="1">
              <a:lnSpc>
                <a:spcPts val="2036"/>
              </a:lnSpc>
              <a:buFont typeface="Arial"/>
              <a:buChar char="•"/>
            </a:pPr>
            <a:r>
              <a:rPr lang="en-US" sz="1454">
                <a:solidFill>
                  <a:srgbClr val="000000"/>
                </a:solidFill>
                <a:latin typeface="Canva Sans"/>
                <a:ea typeface="Canva Sans"/>
                <a:cs typeface="Canva Sans"/>
                <a:sym typeface="Canva Sans"/>
              </a:rPr>
              <a:t>Same Source and Destination</a:t>
            </a:r>
          </a:p>
          <a:p>
            <a:pPr algn="l">
              <a:lnSpc>
                <a:spcPts val="2036"/>
              </a:lnSpc>
            </a:pPr>
            <a:r>
              <a:rPr lang="en-US" sz="1454">
                <a:solidFill>
                  <a:srgbClr val="000000"/>
                </a:solidFill>
                <a:latin typeface="Canva Sans"/>
                <a:ea typeface="Canva Sans"/>
                <a:cs typeface="Canva Sans"/>
                <a:sym typeface="Canva Sans"/>
              </a:rPr>
              <a:t>       [Verify error when same city </a:t>
            </a:r>
          </a:p>
          <a:p>
            <a:pPr algn="l">
              <a:lnSpc>
                <a:spcPts val="2036"/>
              </a:lnSpc>
            </a:pPr>
            <a:r>
              <a:rPr lang="en-US" sz="1454">
                <a:solidFill>
                  <a:srgbClr val="000000"/>
                </a:solidFill>
                <a:latin typeface="Canva Sans"/>
                <a:ea typeface="Canva Sans"/>
                <a:cs typeface="Canva Sans"/>
                <a:sym typeface="Canva Sans"/>
              </a:rPr>
              <a:t>        are </a:t>
            </a:r>
            <a:r>
              <a:rPr lang="en-US" sz="1454">
                <a:solidFill>
                  <a:srgbClr val="000000"/>
                </a:solidFill>
                <a:latin typeface="Canva Sans"/>
                <a:ea typeface="Canva Sans"/>
                <a:cs typeface="Canva Sans"/>
                <a:sym typeface="Canva Sans"/>
              </a:rPr>
              <a:t>selected.]</a:t>
            </a:r>
          </a:p>
          <a:p>
            <a:pPr algn="l">
              <a:lnSpc>
                <a:spcPts val="2036"/>
              </a:lnSpc>
            </a:pPr>
          </a:p>
          <a:p>
            <a:pPr algn="l">
              <a:lnSpc>
                <a:spcPts val="2036"/>
              </a:lnSpc>
            </a:pPr>
          </a:p>
          <a:p>
            <a:pPr algn="l">
              <a:lnSpc>
                <a:spcPts val="2036"/>
              </a:lnSpc>
            </a:pPr>
          </a:p>
        </p:txBody>
      </p:sp>
      <p:sp>
        <p:nvSpPr>
          <p:cNvPr name="TextBox 10" id="10"/>
          <p:cNvSpPr txBox="true"/>
          <p:nvPr/>
        </p:nvSpPr>
        <p:spPr>
          <a:xfrm rot="0">
            <a:off x="4576994" y="2904395"/>
            <a:ext cx="3898274" cy="1477834"/>
          </a:xfrm>
          <a:prstGeom prst="rect">
            <a:avLst/>
          </a:prstGeom>
        </p:spPr>
        <p:txBody>
          <a:bodyPr anchor="t" rtlCol="false" tIns="0" lIns="0" bIns="0" rIns="0">
            <a:spAutoFit/>
          </a:bodyPr>
          <a:lstStyle/>
          <a:p>
            <a:pPr algn="just" marL="311448" indent="-155724" lvl="1">
              <a:lnSpc>
                <a:spcPts val="2019"/>
              </a:lnSpc>
              <a:buFont typeface="Arial"/>
              <a:buChar char="•"/>
            </a:pPr>
            <a:r>
              <a:rPr lang="en-US" sz="1442">
                <a:solidFill>
                  <a:srgbClr val="000000"/>
                </a:solidFill>
                <a:latin typeface="Canva Sans"/>
                <a:ea typeface="Canva Sans"/>
                <a:cs typeface="Canva Sans"/>
                <a:sym typeface="Canva Sans"/>
              </a:rPr>
              <a:t>One-Way Flight S</a:t>
            </a:r>
            <a:r>
              <a:rPr lang="en-US" sz="1442">
                <a:solidFill>
                  <a:srgbClr val="000000"/>
                </a:solidFill>
                <a:latin typeface="Canva Sans"/>
                <a:ea typeface="Canva Sans"/>
                <a:cs typeface="Canva Sans"/>
                <a:sym typeface="Canva Sans"/>
              </a:rPr>
              <a:t>earch Validation</a:t>
            </a:r>
          </a:p>
          <a:p>
            <a:pPr algn="just" marL="311448" indent="-155724" lvl="1">
              <a:lnSpc>
                <a:spcPts val="2019"/>
              </a:lnSpc>
              <a:buFont typeface="Arial"/>
              <a:buChar char="•"/>
            </a:pPr>
            <a:r>
              <a:rPr lang="en-US" sz="1442">
                <a:solidFill>
                  <a:srgbClr val="000000"/>
                </a:solidFill>
                <a:latin typeface="Canva Sans"/>
                <a:ea typeface="Canva Sans"/>
                <a:cs typeface="Canva Sans"/>
                <a:sym typeface="Canva Sans"/>
              </a:rPr>
              <a:t>Dynamic City Selection</a:t>
            </a:r>
          </a:p>
          <a:p>
            <a:pPr algn="just" marL="311448" indent="-155724" lvl="1">
              <a:lnSpc>
                <a:spcPts val="2019"/>
              </a:lnSpc>
              <a:buFont typeface="Arial"/>
              <a:buChar char="•"/>
            </a:pPr>
            <a:r>
              <a:rPr lang="en-US" sz="1442">
                <a:solidFill>
                  <a:srgbClr val="000000"/>
                </a:solidFill>
                <a:latin typeface="Canva Sans"/>
                <a:ea typeface="Canva Sans"/>
                <a:cs typeface="Canva Sans"/>
                <a:sym typeface="Canva Sans"/>
              </a:rPr>
              <a:t>Non-Stop Flight Filter Validation</a:t>
            </a:r>
          </a:p>
          <a:p>
            <a:pPr algn="just" marL="311448" indent="-155724" lvl="1">
              <a:lnSpc>
                <a:spcPts val="2019"/>
              </a:lnSpc>
              <a:buFont typeface="Arial"/>
              <a:buChar char="•"/>
            </a:pPr>
            <a:r>
              <a:rPr lang="en-US" sz="1442">
                <a:solidFill>
                  <a:srgbClr val="000000"/>
                </a:solidFill>
                <a:latin typeface="Canva Sans"/>
                <a:ea typeface="Canva Sans"/>
                <a:cs typeface="Canva Sans"/>
                <a:sym typeface="Canva Sans"/>
              </a:rPr>
              <a:t>Airline Filter Verification (Example: Air India)</a:t>
            </a:r>
          </a:p>
          <a:p>
            <a:pPr algn="just">
              <a:lnSpc>
                <a:spcPts val="2019"/>
              </a:lnSpc>
            </a:pPr>
          </a:p>
        </p:txBody>
      </p:sp>
      <p:sp>
        <p:nvSpPr>
          <p:cNvPr name="TextBox 11" id="11"/>
          <p:cNvSpPr txBox="true"/>
          <p:nvPr/>
        </p:nvSpPr>
        <p:spPr>
          <a:xfrm rot="0">
            <a:off x="701661" y="2498830"/>
            <a:ext cx="2074069" cy="297180"/>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Canva Sans Bold"/>
                <a:ea typeface="Canva Sans Bold"/>
                <a:cs typeface="Canva Sans Bold"/>
                <a:sym typeface="Canva Sans Bold"/>
              </a:rPr>
              <a:t>Flow of End to End</a:t>
            </a:r>
          </a:p>
        </p:txBody>
      </p:sp>
      <p:sp>
        <p:nvSpPr>
          <p:cNvPr name="TextBox 12" id="12"/>
          <p:cNvSpPr txBox="true"/>
          <p:nvPr/>
        </p:nvSpPr>
        <p:spPr>
          <a:xfrm rot="0">
            <a:off x="364478" y="2867130"/>
            <a:ext cx="3772733" cy="3707765"/>
          </a:xfrm>
          <a:prstGeom prst="rect">
            <a:avLst/>
          </a:prstGeom>
        </p:spPr>
        <p:txBody>
          <a:bodyPr anchor="t" rtlCol="false" tIns="0" lIns="0" bIns="0" rIns="0">
            <a:spAutoFit/>
          </a:bodyPr>
          <a:lstStyle/>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Lau</a:t>
            </a:r>
            <a:r>
              <a:rPr lang="en-US" sz="1400">
                <a:solidFill>
                  <a:srgbClr val="000000"/>
                </a:solidFill>
                <a:latin typeface="Canva Sans"/>
                <a:ea typeface="Canva Sans"/>
                <a:cs typeface="Canva Sans"/>
                <a:sym typeface="Canva Sans"/>
              </a:rPr>
              <a:t>nch MakeMyTrip application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Handle </a:t>
            </a:r>
            <a:r>
              <a:rPr lang="en-US" sz="1400">
                <a:solidFill>
                  <a:srgbClr val="000000"/>
                </a:solidFill>
                <a:latin typeface="Canva Sans"/>
                <a:ea typeface="Canva Sans"/>
                <a:cs typeface="Canva Sans"/>
                <a:sym typeface="Canva Sans"/>
              </a:rPr>
              <a:t>overlay modal</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Navigate to Flights module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Select trip type (One Way)</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Enter source and destination cities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Select departure date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Execute flight search</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Open fare det</a:t>
            </a:r>
            <a:r>
              <a:rPr lang="en-US" sz="1400">
                <a:solidFill>
                  <a:srgbClr val="000000"/>
                </a:solidFill>
                <a:latin typeface="Canva Sans"/>
                <a:ea typeface="Canva Sans"/>
                <a:cs typeface="Canva Sans"/>
                <a:sym typeface="Canva Sans"/>
              </a:rPr>
              <a:t>ails, “View Prices”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Proceed with “Book Now” flow</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Validate booking page redirection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Add p</a:t>
            </a:r>
            <a:r>
              <a:rPr lang="en-US" sz="1400">
                <a:solidFill>
                  <a:srgbClr val="000000"/>
                </a:solidFill>
                <a:latin typeface="Canva Sans"/>
                <a:ea typeface="Canva Sans"/>
                <a:cs typeface="Canva Sans"/>
                <a:sym typeface="Canva Sans"/>
              </a:rPr>
              <a:t>assenger details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Enter c</a:t>
            </a:r>
            <a:r>
              <a:rPr lang="en-US" sz="1400">
                <a:solidFill>
                  <a:srgbClr val="000000"/>
                </a:solidFill>
                <a:latin typeface="Canva Sans"/>
                <a:ea typeface="Canva Sans"/>
                <a:cs typeface="Canva Sans"/>
                <a:sym typeface="Canva Sans"/>
              </a:rPr>
              <a:t>ontact information </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Validate required field behavior</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Confirm booking.</a:t>
            </a:r>
          </a:p>
          <a:p>
            <a:pPr algn="l">
              <a:lnSpc>
                <a:spcPts val="196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2373099" y="451260"/>
            <a:ext cx="3389412"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Trains</a:t>
            </a:r>
          </a:p>
        </p:txBody>
      </p:sp>
      <p:sp>
        <p:nvSpPr>
          <p:cNvPr name="TextBox 5" id="5"/>
          <p:cNvSpPr txBox="true"/>
          <p:nvPr/>
        </p:nvSpPr>
        <p:spPr>
          <a:xfrm rot="0">
            <a:off x="371316" y="3023906"/>
            <a:ext cx="2304554"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Flow </a:t>
            </a:r>
            <a:r>
              <a:rPr lang="en-US" b="true" sz="2000">
                <a:solidFill>
                  <a:srgbClr val="000000"/>
                </a:solidFill>
                <a:latin typeface="Canva Sans Bold"/>
                <a:ea typeface="Canva Sans Bold"/>
                <a:cs typeface="Canva Sans Bold"/>
                <a:sym typeface="Canva Sans Bold"/>
              </a:rPr>
              <a:t>of End to End</a:t>
            </a:r>
          </a:p>
        </p:txBody>
      </p:sp>
      <p:sp>
        <p:nvSpPr>
          <p:cNvPr name="TextBox 6" id="6"/>
          <p:cNvSpPr txBox="true"/>
          <p:nvPr/>
        </p:nvSpPr>
        <p:spPr>
          <a:xfrm rot="0">
            <a:off x="4227802" y="3023906"/>
            <a:ext cx="2840137"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Positive Test Scenarios</a:t>
            </a:r>
          </a:p>
        </p:txBody>
      </p:sp>
      <p:sp>
        <p:nvSpPr>
          <p:cNvPr name="TextBox 7" id="7"/>
          <p:cNvSpPr txBox="true"/>
          <p:nvPr/>
        </p:nvSpPr>
        <p:spPr>
          <a:xfrm rot="0">
            <a:off x="4346246" y="4916397"/>
            <a:ext cx="295205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Negative </a:t>
            </a:r>
            <a:r>
              <a:rPr lang="en-US" b="true" sz="2000">
                <a:solidFill>
                  <a:srgbClr val="000000"/>
                </a:solidFill>
                <a:latin typeface="Canva Sans Bold"/>
                <a:ea typeface="Canva Sans Bold"/>
                <a:cs typeface="Canva Sans Bold"/>
                <a:sym typeface="Canva Sans Bold"/>
              </a:rPr>
              <a:t>Test Scenarios</a:t>
            </a:r>
          </a:p>
        </p:txBody>
      </p:sp>
      <p:sp>
        <p:nvSpPr>
          <p:cNvPr name="TextBox 8" id="8"/>
          <p:cNvSpPr txBox="true"/>
          <p:nvPr/>
        </p:nvSpPr>
        <p:spPr>
          <a:xfrm rot="0">
            <a:off x="371316" y="1316391"/>
            <a:ext cx="7107228" cy="1478915"/>
          </a:xfrm>
          <a:prstGeom prst="rect">
            <a:avLst/>
          </a:prstGeom>
        </p:spPr>
        <p:txBody>
          <a:bodyPr anchor="t" rtlCol="false" tIns="0" lIns="0" bIns="0" rIns="0">
            <a:spAutoFit/>
          </a:bodyPr>
          <a:lstStyle/>
          <a:p>
            <a:pPr algn="l">
              <a:lnSpc>
                <a:spcPts val="1960"/>
              </a:lnSpc>
            </a:pPr>
            <a:r>
              <a:rPr lang="en-US" sz="1400" b="true">
                <a:solidFill>
                  <a:srgbClr val="000000"/>
                </a:solidFill>
                <a:latin typeface="Canva Sans Bold"/>
                <a:ea typeface="Canva Sans Bold"/>
                <a:cs typeface="Canva Sans Bold"/>
                <a:sym typeface="Canva Sans Bold"/>
              </a:rPr>
              <a:t>Objective</a:t>
            </a:r>
            <a:r>
              <a:rPr lang="en-US" sz="1400">
                <a:solidFill>
                  <a:srgbClr val="000000"/>
                </a:solidFill>
                <a:latin typeface="Canva Sans"/>
                <a:ea typeface="Canva Sans"/>
                <a:cs typeface="Canva Sans"/>
                <a:sym typeface="Canva Sans"/>
              </a:rPr>
              <a:t>: The main goal of this project was to make sure the entire train ticket booking process works perfectly from start to finish. To achieve this, I wrote an automated script that acts like a real user. It automatically searches for train routes, picks an available seat, and fills in all the passenger details using information saved in Excel files. Finally, the script double-checks that the website safely makes it to the final payment page without freezing or showing any errors.</a:t>
            </a:r>
          </a:p>
        </p:txBody>
      </p:sp>
      <p:sp>
        <p:nvSpPr>
          <p:cNvPr name="TextBox 9" id="9"/>
          <p:cNvSpPr txBox="true"/>
          <p:nvPr/>
        </p:nvSpPr>
        <p:spPr>
          <a:xfrm rot="0">
            <a:off x="363346" y="3484817"/>
            <a:ext cx="3656834" cy="3707765"/>
          </a:xfrm>
          <a:prstGeom prst="rect">
            <a:avLst/>
          </a:prstGeom>
        </p:spPr>
        <p:txBody>
          <a:bodyPr anchor="t" rtlCol="false" tIns="0" lIns="0" bIns="0" rIns="0">
            <a:spAutoFit/>
          </a:bodyPr>
          <a:lstStyle/>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Launch MakeMyTrip application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Close login popup</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Navigate to Trains module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Enter source and destination stations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Select travel date and search trains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Apply AC and Available filters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Select available train ticket</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Open add traveller modal and enter passenger details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Enter IRCTC username and contact details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Accept terms and proceed to payment</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Select credit card option and enter details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Close the browser</a:t>
            </a:r>
          </a:p>
        </p:txBody>
      </p:sp>
      <p:sp>
        <p:nvSpPr>
          <p:cNvPr name="TextBox 10" id="10"/>
          <p:cNvSpPr txBox="true"/>
          <p:nvPr/>
        </p:nvSpPr>
        <p:spPr>
          <a:xfrm rot="0">
            <a:off x="4346246" y="3629025"/>
            <a:ext cx="3769740" cy="98361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Valid Source &amp; Destination Search</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Train Listing &amp; Availability Validation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AC and Available Filter Validation</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Payment Page Navigation Validation</a:t>
            </a:r>
          </a:p>
        </p:txBody>
      </p:sp>
      <p:sp>
        <p:nvSpPr>
          <p:cNvPr name="TextBox 11" id="11"/>
          <p:cNvSpPr txBox="true"/>
          <p:nvPr/>
        </p:nvSpPr>
        <p:spPr>
          <a:xfrm rot="0">
            <a:off x="4346246" y="5588454"/>
            <a:ext cx="3860990" cy="735965"/>
          </a:xfrm>
          <a:prstGeom prst="rect">
            <a:avLst/>
          </a:prstGeom>
        </p:spPr>
        <p:txBody>
          <a:bodyPr anchor="t" rtlCol="false" tIns="0" lIns="0" bIns="0" rIns="0">
            <a:spAutoFit/>
          </a:bodyPr>
          <a:lstStyle/>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Invalid Source and Valid Destination Search</a:t>
            </a:r>
          </a:p>
          <a:p>
            <a:pPr algn="l" marL="302261" indent="-151130" lvl="1">
              <a:lnSpc>
                <a:spcPts val="1960"/>
              </a:lnSpc>
              <a:buFont typeface="Arial"/>
              <a:buChar char="•"/>
            </a:pPr>
            <a:r>
              <a:rPr lang="en-US" sz="1400">
                <a:solidFill>
                  <a:srgbClr val="000000"/>
                </a:solidFill>
                <a:latin typeface="Canva Sans"/>
                <a:ea typeface="Canva Sans"/>
                <a:cs typeface="Canva Sans"/>
                <a:sym typeface="Canva Sans"/>
              </a:rPr>
              <a:t>Invalid Mobile Number Validation</a:t>
            </a:r>
          </a:p>
        </p:txBody>
      </p:sp>
      <p:sp>
        <p:nvSpPr>
          <p:cNvPr name="AutoShape 12" id="12"/>
          <p:cNvSpPr/>
          <p:nvPr/>
        </p:nvSpPr>
        <p:spPr>
          <a:xfrm>
            <a:off x="4068841" y="3177873"/>
            <a:ext cx="19050" cy="4010614"/>
          </a:xfrm>
          <a:prstGeom prst="line">
            <a:avLst/>
          </a:prstGeom>
          <a:ln cap="flat" w="38100">
            <a:solidFill>
              <a:srgbClr val="00000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536838" y="533410"/>
            <a:ext cx="6753827" cy="2197735"/>
          </a:xfrm>
          <a:prstGeom prst="rect">
            <a:avLst/>
          </a:prstGeom>
        </p:spPr>
        <p:txBody>
          <a:bodyPr anchor="t" rtlCol="false" tIns="0" lIns="0" bIns="0" rIns="0">
            <a:spAutoFit/>
          </a:bodyPr>
          <a:lstStyle/>
          <a:p>
            <a:pPr algn="l">
              <a:lnSpc>
                <a:spcPts val="2239"/>
              </a:lnSpc>
            </a:pPr>
          </a:p>
          <a:p>
            <a:pPr algn="l">
              <a:lnSpc>
                <a:spcPts val="2239"/>
              </a:lnSpc>
            </a:pPr>
          </a:p>
          <a:p>
            <a:pPr algn="l">
              <a:lnSpc>
                <a:spcPts val="2239"/>
              </a:lnSpc>
            </a:pPr>
            <a:r>
              <a:rPr lang="en-US" sz="1599" b="true">
                <a:solidFill>
                  <a:srgbClr val="000000"/>
                </a:solidFill>
                <a:latin typeface="Canva Sans Bold"/>
                <a:ea typeface="Canva Sans Bold"/>
                <a:cs typeface="Canva Sans Bold"/>
                <a:sym typeface="Canva Sans Bold"/>
              </a:rPr>
              <a:t>Objective</a:t>
            </a:r>
            <a:r>
              <a:rPr lang="en-US" sz="1599">
                <a:solidFill>
                  <a:srgbClr val="000000"/>
                </a:solidFill>
                <a:latin typeface="Canva Sans"/>
                <a:ea typeface="Canva Sans"/>
                <a:cs typeface="Canva Sans"/>
                <a:sym typeface="Canva Sans"/>
              </a:rPr>
              <a:t>:</a:t>
            </a:r>
            <a:r>
              <a:rPr lang="en-US" sz="1599">
                <a:solidFill>
                  <a:srgbClr val="000000"/>
                </a:solidFill>
                <a:latin typeface="Canva Sans"/>
                <a:ea typeface="Canva Sans"/>
                <a:cs typeface="Canva Sans"/>
                <a:sym typeface="Canva Sans"/>
              </a:rPr>
              <a:t>The Hotel Module Automation Framework validates the complete hotel booking process of MakeMyTrip using Selenium with Python. It automates hotel search, guest details entry, hotel selection, and checkout validation. The framework uses POM architecture, Pytest execution, and CSV-based data-driven testing for multiple scenarios.</a:t>
            </a:r>
          </a:p>
        </p:txBody>
      </p:sp>
      <p:sp>
        <p:nvSpPr>
          <p:cNvPr name="TextBox 5" id="5"/>
          <p:cNvSpPr txBox="true"/>
          <p:nvPr/>
        </p:nvSpPr>
        <p:spPr>
          <a:xfrm rot="0">
            <a:off x="335979" y="3186757"/>
            <a:ext cx="3558723" cy="4131310"/>
          </a:xfrm>
          <a:prstGeom prst="rect">
            <a:avLst/>
          </a:prstGeom>
        </p:spPr>
        <p:txBody>
          <a:bodyPr anchor="t" rtlCol="false" tIns="0" lIns="0" bIns="0" rIns="0">
            <a:spAutoFit/>
          </a:bodyPr>
          <a:lstStyle/>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Lau</a:t>
            </a:r>
            <a:r>
              <a:rPr lang="en-US" sz="1599">
                <a:solidFill>
                  <a:srgbClr val="000000"/>
                </a:solidFill>
                <a:latin typeface="Canva Sans"/>
                <a:ea typeface="Canva Sans"/>
                <a:cs typeface="Canva Sans"/>
                <a:sym typeface="Canva Sans"/>
              </a:rPr>
              <a:t>nch MakeMyTrip application</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Handle Login popup</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Navigate to Hotel module</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Enter Destination or City</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Enter Stay dates </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Add Rooms &amp; Guests</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 Click on Search Parameter</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Apply 5-Star Filter</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Selects First Hotel From Hotel Listings</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Clicks On Book This Now</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Add Guest Details</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Selects Secure Trip Option</a:t>
            </a:r>
          </a:p>
          <a:p>
            <a:pPr algn="l" marL="345439" indent="-172720" lvl="1">
              <a:lnSpc>
                <a:spcPts val="2239"/>
              </a:lnSpc>
              <a:buAutoNum type="arabicPeriod" startAt="1"/>
            </a:pPr>
            <a:r>
              <a:rPr lang="en-US" sz="1599">
                <a:solidFill>
                  <a:srgbClr val="000000"/>
                </a:solidFill>
                <a:latin typeface="Canva Sans"/>
                <a:ea typeface="Canva Sans"/>
                <a:cs typeface="Canva Sans"/>
                <a:sym typeface="Canva Sans"/>
              </a:rPr>
              <a:t>Click On Pay Now</a:t>
            </a:r>
          </a:p>
          <a:p>
            <a:pPr algn="l">
              <a:lnSpc>
                <a:spcPts val="2239"/>
              </a:lnSpc>
            </a:pPr>
          </a:p>
        </p:txBody>
      </p:sp>
      <p:sp>
        <p:nvSpPr>
          <p:cNvPr name="AutoShape 6" id="6"/>
          <p:cNvSpPr/>
          <p:nvPr/>
        </p:nvSpPr>
        <p:spPr>
          <a:xfrm>
            <a:off x="3894702" y="2753626"/>
            <a:ext cx="0" cy="4150295"/>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4554950" y="2729161"/>
            <a:ext cx="2839492" cy="349249"/>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Positive Test Scenarios</a:t>
            </a:r>
          </a:p>
        </p:txBody>
      </p:sp>
      <p:sp>
        <p:nvSpPr>
          <p:cNvPr name="TextBox 8" id="8"/>
          <p:cNvSpPr txBox="true"/>
          <p:nvPr/>
        </p:nvSpPr>
        <p:spPr>
          <a:xfrm rot="0">
            <a:off x="4347397" y="3186757"/>
            <a:ext cx="3158964" cy="2197735"/>
          </a:xfrm>
          <a:prstGeom prst="rect">
            <a:avLst/>
          </a:prstGeom>
        </p:spPr>
        <p:txBody>
          <a:bodyPr anchor="t" rtlCol="false" tIns="0" lIns="0" bIns="0" rIns="0">
            <a:spAutoFit/>
          </a:bodyPr>
          <a:lstStyle/>
          <a:p>
            <a:pPr algn="just" marL="345439" indent="-172720" lvl="1">
              <a:lnSpc>
                <a:spcPts val="2239"/>
              </a:lnSpc>
              <a:buFont typeface="Arial"/>
              <a:buChar char="•"/>
            </a:pPr>
            <a:r>
              <a:rPr lang="en-US" sz="1599">
                <a:solidFill>
                  <a:srgbClr val="000000"/>
                </a:solidFill>
                <a:latin typeface="Canva Sans"/>
                <a:ea typeface="Canva Sans"/>
                <a:cs typeface="Canva Sans"/>
                <a:sym typeface="Canva Sans"/>
              </a:rPr>
              <a:t>Guest Details Validation From Csv Data</a:t>
            </a:r>
          </a:p>
          <a:p>
            <a:pPr algn="just" marL="345439" indent="-172720" lvl="1">
              <a:lnSpc>
                <a:spcPts val="2239"/>
              </a:lnSpc>
              <a:buFont typeface="Arial"/>
              <a:buChar char="•"/>
            </a:pPr>
            <a:r>
              <a:rPr lang="en-US" sz="1599">
                <a:solidFill>
                  <a:srgbClr val="000000"/>
                </a:solidFill>
                <a:latin typeface="Canva Sans"/>
                <a:ea typeface="Canva Sans"/>
                <a:cs typeface="Canva Sans"/>
                <a:sym typeface="Canva Sans"/>
              </a:rPr>
              <a:t>Dynamic City Selection</a:t>
            </a:r>
          </a:p>
          <a:p>
            <a:pPr algn="just" marL="345439" indent="-172720" lvl="1">
              <a:lnSpc>
                <a:spcPts val="2239"/>
              </a:lnSpc>
              <a:buFont typeface="Arial"/>
              <a:buChar char="•"/>
            </a:pPr>
            <a:r>
              <a:rPr lang="en-US" sz="1599">
                <a:solidFill>
                  <a:srgbClr val="000000"/>
                </a:solidFill>
                <a:latin typeface="Canva Sans"/>
                <a:ea typeface="Canva Sans"/>
                <a:cs typeface="Canva Sans"/>
                <a:sym typeface="Canva Sans"/>
              </a:rPr>
              <a:t>Entering Correct Pan-Number</a:t>
            </a:r>
          </a:p>
          <a:p>
            <a:pPr algn="just" marL="345439" indent="-172720" lvl="1">
              <a:lnSpc>
                <a:spcPts val="2239"/>
              </a:lnSpc>
              <a:buFont typeface="Arial"/>
              <a:buChar char="•"/>
            </a:pPr>
            <a:r>
              <a:rPr lang="en-US" sz="1599">
                <a:solidFill>
                  <a:srgbClr val="000000"/>
                </a:solidFill>
                <a:latin typeface="Canva Sans"/>
                <a:ea typeface="Canva Sans"/>
                <a:cs typeface="Canva Sans"/>
                <a:sym typeface="Canva Sans"/>
              </a:rPr>
              <a:t>Applying 5-Star Filter</a:t>
            </a:r>
          </a:p>
          <a:p>
            <a:pPr algn="just">
              <a:lnSpc>
                <a:spcPts val="2239"/>
              </a:lnSpc>
            </a:pPr>
          </a:p>
          <a:p>
            <a:pPr algn="just">
              <a:lnSpc>
                <a:spcPts val="2239"/>
              </a:lnSpc>
            </a:pPr>
          </a:p>
        </p:txBody>
      </p:sp>
      <p:sp>
        <p:nvSpPr>
          <p:cNvPr name="TextBox 9" id="9"/>
          <p:cNvSpPr txBox="true"/>
          <p:nvPr/>
        </p:nvSpPr>
        <p:spPr>
          <a:xfrm rot="0">
            <a:off x="4554950" y="4864616"/>
            <a:ext cx="2951411" cy="701674"/>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Negative Test Scenarios</a:t>
            </a:r>
          </a:p>
          <a:p>
            <a:pPr algn="ctr">
              <a:lnSpc>
                <a:spcPts val="2800"/>
              </a:lnSpc>
            </a:pPr>
          </a:p>
        </p:txBody>
      </p:sp>
      <p:sp>
        <p:nvSpPr>
          <p:cNvPr name="TextBox 10" id="10"/>
          <p:cNvSpPr txBox="true"/>
          <p:nvPr/>
        </p:nvSpPr>
        <p:spPr>
          <a:xfrm rot="0">
            <a:off x="4451173" y="5314998"/>
            <a:ext cx="3349745" cy="1092835"/>
          </a:xfrm>
          <a:prstGeom prst="rect">
            <a:avLst/>
          </a:prstGeom>
        </p:spPr>
        <p:txBody>
          <a:bodyPr anchor="t" rtlCol="false" tIns="0" lIns="0" bIns="0" rIns="0">
            <a:spAutoFit/>
          </a:bodyPr>
          <a:lstStyle/>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Invalid</a:t>
            </a:r>
            <a:r>
              <a:rPr lang="en-US" sz="1599">
                <a:solidFill>
                  <a:srgbClr val="000000"/>
                </a:solidFill>
                <a:latin typeface="Canva Sans"/>
                <a:ea typeface="Canva Sans"/>
                <a:cs typeface="Canva Sans"/>
                <a:sym typeface="Canva Sans"/>
              </a:rPr>
              <a:t> PAN Card Format Validation</a:t>
            </a:r>
          </a:p>
          <a:p>
            <a:pPr algn="l" marL="345439" indent="-172720" lvl="1">
              <a:lnSpc>
                <a:spcPts val="2239"/>
              </a:lnSpc>
              <a:buFont typeface="Arial"/>
              <a:buChar char="•"/>
            </a:pPr>
            <a:r>
              <a:rPr lang="en-US" sz="1599">
                <a:solidFill>
                  <a:srgbClr val="000000"/>
                </a:solidFill>
                <a:latin typeface="Canva Sans"/>
                <a:ea typeface="Canva Sans"/>
                <a:cs typeface="Canva Sans"/>
                <a:sym typeface="Canva Sans"/>
              </a:rPr>
              <a:t>Empty First Name</a:t>
            </a:r>
          </a:p>
          <a:p>
            <a:pPr algn="l">
              <a:lnSpc>
                <a:spcPts val="2239"/>
              </a:lnSpc>
            </a:pPr>
          </a:p>
        </p:txBody>
      </p:sp>
      <p:sp>
        <p:nvSpPr>
          <p:cNvPr name="TextBox 11" id="11"/>
          <p:cNvSpPr txBox="true"/>
          <p:nvPr/>
        </p:nvSpPr>
        <p:spPr>
          <a:xfrm rot="0">
            <a:off x="2396816" y="451260"/>
            <a:ext cx="3480792"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Hotels</a:t>
            </a:r>
          </a:p>
        </p:txBody>
      </p:sp>
      <p:sp>
        <p:nvSpPr>
          <p:cNvPr name="TextBox 12" id="12"/>
          <p:cNvSpPr txBox="true"/>
          <p:nvPr/>
        </p:nvSpPr>
        <p:spPr>
          <a:xfrm rot="0">
            <a:off x="536838" y="2774801"/>
            <a:ext cx="230433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Flow of End to End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850640"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2413008" y="451260"/>
            <a:ext cx="3448407" cy="44831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Module Name: Cruise</a:t>
            </a:r>
          </a:p>
        </p:txBody>
      </p:sp>
      <p:sp>
        <p:nvSpPr>
          <p:cNvPr name="TextBox 5" id="5"/>
          <p:cNvSpPr txBox="true"/>
          <p:nvPr/>
        </p:nvSpPr>
        <p:spPr>
          <a:xfrm rot="0">
            <a:off x="250794" y="1308735"/>
            <a:ext cx="7389705" cy="735965"/>
          </a:xfrm>
          <a:prstGeom prst="rect">
            <a:avLst/>
          </a:prstGeom>
        </p:spPr>
        <p:txBody>
          <a:bodyPr anchor="t" rtlCol="false" tIns="0" lIns="0" bIns="0" rIns="0">
            <a:spAutoFit/>
          </a:bodyPr>
          <a:lstStyle/>
          <a:p>
            <a:pPr algn="l">
              <a:lnSpc>
                <a:spcPts val="1960"/>
              </a:lnSpc>
              <a:spcBef>
                <a:spcPct val="0"/>
              </a:spcBef>
            </a:pPr>
            <a:r>
              <a:rPr lang="en-US" sz="1400">
                <a:solidFill>
                  <a:srgbClr val="000000"/>
                </a:solidFill>
                <a:latin typeface="Canva Sans"/>
                <a:ea typeface="Canva Sans"/>
                <a:cs typeface="Canva Sans"/>
                <a:sym typeface="Canva Sans"/>
              </a:rPr>
              <a:t>Objective: Streamline and verify the complete cruise booking journey and cross-domain transitions to mmt.odysol.com by deploying a Selenium and BDD-based automation framework.</a:t>
            </a:r>
          </a:p>
        </p:txBody>
      </p:sp>
      <p:sp>
        <p:nvSpPr>
          <p:cNvPr name="AutoShape 6" id="6"/>
          <p:cNvSpPr/>
          <p:nvPr/>
        </p:nvSpPr>
        <p:spPr>
          <a:xfrm>
            <a:off x="4326807" y="2392075"/>
            <a:ext cx="0" cy="4520406"/>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4565454" y="2344450"/>
            <a:ext cx="3803898" cy="349250"/>
          </a:xfrm>
          <a:prstGeom prst="rect">
            <a:avLst/>
          </a:prstGeom>
        </p:spPr>
        <p:txBody>
          <a:bodyPr anchor="t" rtlCol="false" tIns="0" lIns="0" bIns="0" rIns="0">
            <a:spAutoFit/>
          </a:bodyPr>
          <a:lstStyle/>
          <a:p>
            <a:pPr algn="l">
              <a:lnSpc>
                <a:spcPts val="2800"/>
              </a:lnSpc>
              <a:spcBef>
                <a:spcPct val="0"/>
              </a:spcBef>
            </a:pPr>
            <a:r>
              <a:rPr lang="en-US" b="true" sz="2000">
                <a:solidFill>
                  <a:srgbClr val="000000"/>
                </a:solidFill>
                <a:latin typeface="Canva Sans Bold"/>
                <a:ea typeface="Canva Sans Bold"/>
                <a:cs typeface="Canva Sans Bold"/>
                <a:sym typeface="Canva Sans Bold"/>
              </a:rPr>
              <a:t>Test Summary </a:t>
            </a:r>
          </a:p>
        </p:txBody>
      </p:sp>
      <p:sp>
        <p:nvSpPr>
          <p:cNvPr name="TextBox 8" id="8"/>
          <p:cNvSpPr txBox="true"/>
          <p:nvPr/>
        </p:nvSpPr>
        <p:spPr>
          <a:xfrm rot="0">
            <a:off x="4578626" y="2800138"/>
            <a:ext cx="2271593" cy="264160"/>
          </a:xfrm>
          <a:prstGeom prst="rect">
            <a:avLst/>
          </a:prstGeom>
        </p:spPr>
        <p:txBody>
          <a:bodyPr anchor="t" rtlCol="false" tIns="0" lIns="0" bIns="0" rIns="0">
            <a:spAutoFit/>
          </a:bodyPr>
          <a:lstStyle/>
          <a:p>
            <a:pPr algn="l">
              <a:lnSpc>
                <a:spcPts val="2240"/>
              </a:lnSpc>
              <a:spcBef>
                <a:spcPct val="0"/>
              </a:spcBef>
            </a:pPr>
            <a:r>
              <a:rPr lang="en-US" b="true" sz="1600">
                <a:solidFill>
                  <a:srgbClr val="000000"/>
                </a:solidFill>
                <a:latin typeface="Canva Sans Bold"/>
                <a:ea typeface="Canva Sans Bold"/>
                <a:cs typeface="Canva Sans Bold"/>
                <a:sym typeface="Canva Sans Bold"/>
              </a:rPr>
              <a:t>Positive Test Scenarios</a:t>
            </a:r>
          </a:p>
        </p:txBody>
      </p:sp>
      <p:sp>
        <p:nvSpPr>
          <p:cNvPr name="TextBox 9" id="9"/>
          <p:cNvSpPr txBox="true"/>
          <p:nvPr/>
        </p:nvSpPr>
        <p:spPr>
          <a:xfrm rot="0">
            <a:off x="4578626" y="5125901"/>
            <a:ext cx="2361128"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Canva Sans Bold"/>
                <a:ea typeface="Canva Sans Bold"/>
                <a:cs typeface="Canva Sans Bold"/>
                <a:sym typeface="Canva Sans Bold"/>
              </a:rPr>
              <a:t>Negative Test Scenarios</a:t>
            </a:r>
          </a:p>
        </p:txBody>
      </p:sp>
      <p:sp>
        <p:nvSpPr>
          <p:cNvPr name="TextBox 10" id="10"/>
          <p:cNvSpPr txBox="true"/>
          <p:nvPr/>
        </p:nvSpPr>
        <p:spPr>
          <a:xfrm rot="0">
            <a:off x="4578626" y="5600065"/>
            <a:ext cx="3349745" cy="983615"/>
          </a:xfrm>
          <a:prstGeom prst="rect">
            <a:avLst/>
          </a:prstGeom>
        </p:spPr>
        <p:txBody>
          <a:bodyPr anchor="t" rtlCol="false" tIns="0" lIns="0" bIns="0" rIns="0">
            <a:spAutoFit/>
          </a:bodyPr>
          <a:lstStyle/>
          <a:p>
            <a:pPr algn="l" marL="302259" indent="-151129" lvl="1">
              <a:lnSpc>
                <a:spcPts val="1959"/>
              </a:lnSpc>
              <a:buFont typeface="Arial"/>
              <a:buChar char="•"/>
            </a:pPr>
            <a:r>
              <a:rPr lang="en-US" sz="1399">
                <a:solidFill>
                  <a:srgbClr val="000000"/>
                </a:solidFill>
                <a:latin typeface="Canva Sans"/>
                <a:ea typeface="Canva Sans"/>
                <a:cs typeface="Canva Sans"/>
                <a:sym typeface="Canva Sans"/>
              </a:rPr>
              <a:t>Invalid</a:t>
            </a:r>
            <a:r>
              <a:rPr lang="en-US" sz="1399">
                <a:solidFill>
                  <a:srgbClr val="000000"/>
                </a:solidFill>
                <a:latin typeface="Canva Sans"/>
                <a:ea typeface="Canva Sans"/>
                <a:cs typeface="Canva Sans"/>
                <a:sym typeface="Canva Sans"/>
              </a:rPr>
              <a:t> PAN Card Format Validation</a:t>
            </a:r>
          </a:p>
          <a:p>
            <a:pPr algn="l" marL="302259" indent="-151129" lvl="1">
              <a:lnSpc>
                <a:spcPts val="1959"/>
              </a:lnSpc>
              <a:buFont typeface="Arial"/>
              <a:buChar char="•"/>
            </a:pPr>
            <a:r>
              <a:rPr lang="en-US" sz="1399">
                <a:solidFill>
                  <a:srgbClr val="000000"/>
                </a:solidFill>
                <a:latin typeface="Canva Sans"/>
                <a:ea typeface="Canva Sans"/>
                <a:cs typeface="Canva Sans"/>
                <a:sym typeface="Canva Sans"/>
              </a:rPr>
              <a:t>Required Field Validation (First Name Omitted)</a:t>
            </a:r>
          </a:p>
          <a:p>
            <a:pPr algn="l">
              <a:lnSpc>
                <a:spcPts val="1959"/>
              </a:lnSpc>
            </a:pPr>
          </a:p>
        </p:txBody>
      </p:sp>
      <p:sp>
        <p:nvSpPr>
          <p:cNvPr name="TextBox 11" id="11"/>
          <p:cNvSpPr txBox="true"/>
          <p:nvPr/>
        </p:nvSpPr>
        <p:spPr>
          <a:xfrm rot="0">
            <a:off x="4578626" y="3170736"/>
            <a:ext cx="3790726" cy="1478915"/>
          </a:xfrm>
          <a:prstGeom prst="rect">
            <a:avLst/>
          </a:prstGeom>
        </p:spPr>
        <p:txBody>
          <a:bodyPr anchor="t" rtlCol="false" tIns="0" lIns="0" bIns="0" rIns="0">
            <a:spAutoFit/>
          </a:bodyPr>
          <a:lstStyle/>
          <a:p>
            <a:pPr algn="just" marL="302261" indent="-151130" lvl="1">
              <a:lnSpc>
                <a:spcPts val="1960"/>
              </a:lnSpc>
              <a:buFont typeface="Arial"/>
              <a:buChar char="•"/>
            </a:pPr>
            <a:r>
              <a:rPr lang="en-US" sz="1400">
                <a:solidFill>
                  <a:srgbClr val="000000"/>
                </a:solidFill>
                <a:latin typeface="Canva Sans"/>
                <a:ea typeface="Canva Sans"/>
                <a:cs typeface="Canva Sans"/>
                <a:sym typeface="Canva Sans"/>
              </a:rPr>
              <a:t>Integration Flow (E2E)</a:t>
            </a:r>
          </a:p>
          <a:p>
            <a:pPr algn="just" marL="302261" indent="-151130" lvl="1">
              <a:lnSpc>
                <a:spcPts val="1960"/>
              </a:lnSpc>
              <a:buFont typeface="Arial"/>
              <a:buChar char="•"/>
            </a:pPr>
            <a:r>
              <a:rPr lang="en-US" sz="1400">
                <a:solidFill>
                  <a:srgbClr val="000000"/>
                </a:solidFill>
                <a:latin typeface="Canva Sans"/>
                <a:ea typeface="Canva Sans"/>
                <a:cs typeface="Canva Sans"/>
                <a:sym typeface="Canva Sans"/>
              </a:rPr>
              <a:t>L</a:t>
            </a:r>
            <a:r>
              <a:rPr lang="en-US" sz="1400">
                <a:solidFill>
                  <a:srgbClr val="000000"/>
                </a:solidFill>
                <a:latin typeface="Canva Sans"/>
                <a:ea typeface="Canva Sans"/>
                <a:cs typeface="Canva Sans"/>
                <a:sym typeface="Canva Sans"/>
              </a:rPr>
              <a:t>owercase PAN ID Auto-Sanitization</a:t>
            </a:r>
          </a:p>
          <a:p>
            <a:pPr algn="just" marL="302261" indent="-151130" lvl="1">
              <a:lnSpc>
                <a:spcPts val="1960"/>
              </a:lnSpc>
              <a:buFont typeface="Arial"/>
              <a:buChar char="•"/>
            </a:pPr>
            <a:r>
              <a:rPr lang="en-US" sz="1400">
                <a:solidFill>
                  <a:srgbClr val="000000"/>
                </a:solidFill>
                <a:latin typeface="Canva Sans"/>
                <a:ea typeface="Canva Sans"/>
                <a:cs typeface="Canva Sans"/>
                <a:sym typeface="Canva Sans"/>
              </a:rPr>
              <a:t>Dynamic Sorting &amp; Selection by Departure Date</a:t>
            </a:r>
          </a:p>
          <a:p>
            <a:pPr algn="just" marL="302261" indent="-151130" lvl="1">
              <a:lnSpc>
                <a:spcPts val="1960"/>
              </a:lnSpc>
              <a:buFont typeface="Arial"/>
              <a:buChar char="•"/>
            </a:pPr>
            <a:r>
              <a:rPr lang="en-US" sz="1400">
                <a:solidFill>
                  <a:srgbClr val="000000"/>
                </a:solidFill>
                <a:latin typeface="Canva Sans"/>
                <a:ea typeface="Canva Sans"/>
                <a:cs typeface="Canva Sans"/>
                <a:sym typeface="Canva Sans"/>
              </a:rPr>
              <a:t>Financial Price Validation</a:t>
            </a:r>
          </a:p>
          <a:p>
            <a:pPr algn="just" marL="302261" indent="-151130" lvl="1">
              <a:lnSpc>
                <a:spcPts val="1960"/>
              </a:lnSpc>
              <a:buFont typeface="Arial"/>
              <a:buChar char="•"/>
            </a:pPr>
            <a:r>
              <a:rPr lang="en-US" sz="1400">
                <a:solidFill>
                  <a:srgbClr val="000000"/>
                </a:solidFill>
                <a:latin typeface="Canva Sans"/>
                <a:ea typeface="Canva Sans"/>
                <a:cs typeface="Canva Sans"/>
                <a:sym typeface="Canva Sans"/>
              </a:rPr>
              <a:t>UI Responsiveness &amp; Window Switching</a:t>
            </a:r>
          </a:p>
        </p:txBody>
      </p:sp>
      <p:sp>
        <p:nvSpPr>
          <p:cNvPr name="TextBox 12" id="12"/>
          <p:cNvSpPr txBox="true"/>
          <p:nvPr/>
        </p:nvSpPr>
        <p:spPr>
          <a:xfrm rot="0">
            <a:off x="250794" y="2344450"/>
            <a:ext cx="2304336"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Flow of End to End</a:t>
            </a:r>
          </a:p>
        </p:txBody>
      </p:sp>
      <p:sp>
        <p:nvSpPr>
          <p:cNvPr name="TextBox 13" id="13"/>
          <p:cNvSpPr txBox="true"/>
          <p:nvPr/>
        </p:nvSpPr>
        <p:spPr>
          <a:xfrm rot="0">
            <a:off x="306423" y="2800138"/>
            <a:ext cx="3772733" cy="3707765"/>
          </a:xfrm>
          <a:prstGeom prst="rect">
            <a:avLst/>
          </a:prstGeom>
        </p:spPr>
        <p:txBody>
          <a:bodyPr anchor="t" rtlCol="false" tIns="0" lIns="0" bIns="0" rIns="0">
            <a:spAutoFit/>
          </a:bodyPr>
          <a:lstStyle/>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Launches the Make My Trip Website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Intermittent Modal Handling</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Entering cruise tab</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Search Parameter Injection</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Cross-Domain Handshake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Filter Verification and selects the first cruise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Cabin Selection </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Guaranteed Booking page</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Passenger Matrix Processing</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Contact Details and Dining options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Injection of PAN ID and proceed</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Checkout page with price details</a:t>
            </a:r>
          </a:p>
          <a:p>
            <a:pPr algn="l" marL="302261" indent="-151130" lvl="1">
              <a:lnSpc>
                <a:spcPts val="1960"/>
              </a:lnSpc>
              <a:buAutoNum type="arabicPeriod" startAt="1"/>
            </a:pPr>
            <a:r>
              <a:rPr lang="en-US" sz="1400">
                <a:solidFill>
                  <a:srgbClr val="000000"/>
                </a:solidFill>
                <a:latin typeface="Canva Sans"/>
                <a:ea typeface="Canva Sans"/>
                <a:cs typeface="Canva Sans"/>
                <a:sym typeface="Canva Sans"/>
              </a:rPr>
              <a:t> Teardown &amp; Artifact Capture</a:t>
            </a:r>
          </a:p>
          <a:p>
            <a:pPr algn="l">
              <a:lnSpc>
                <a:spcPts val="196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250794" y="1554660"/>
            <a:ext cx="7363306" cy="5172075"/>
          </a:xfrm>
          <a:prstGeom prst="rect">
            <a:avLst/>
          </a:prstGeom>
        </p:spPr>
        <p:txBody>
          <a:bodyPr anchor="t" rtlCol="false" tIns="0" lIns="0" bIns="0" rIns="0">
            <a:spAutoFit/>
          </a:bodyPr>
          <a:lstStyle/>
          <a:p>
            <a:pPr algn="l">
              <a:lnSpc>
                <a:spcPts val="2239"/>
              </a:lnSpc>
            </a:pPr>
            <a:r>
              <a:rPr lang="en-US" sz="1599" b="true">
                <a:solidFill>
                  <a:srgbClr val="000000"/>
                </a:solidFill>
                <a:latin typeface="Canva Sans Bold"/>
                <a:ea typeface="Canva Sans Bold"/>
                <a:cs typeface="Canva Sans Bold"/>
                <a:sym typeface="Canva Sans Bold"/>
              </a:rPr>
              <a:t>1. AUTOMATION FRAMEWORK</a:t>
            </a:r>
          </a:p>
          <a:p>
            <a:pPr algn="l">
              <a:lnSpc>
                <a:spcPts val="1960"/>
              </a:lnSpc>
            </a:pPr>
            <a:r>
              <a:rPr lang="en-US" sz="1400" b="true">
                <a:solidFill>
                  <a:srgbClr val="000000"/>
                </a:solidFill>
                <a:latin typeface="Canva Sans Bold"/>
                <a:ea typeface="Canva Sans Bold"/>
                <a:cs typeface="Canva Sans Bold"/>
                <a:sym typeface="Canva Sans Bold"/>
              </a:rPr>
              <a:t> </a:t>
            </a:r>
            <a:r>
              <a:rPr lang="en-US" sz="1400">
                <a:solidFill>
                  <a:srgbClr val="000000"/>
                </a:solidFill>
                <a:latin typeface="Canva Sans"/>
                <a:ea typeface="Canva Sans"/>
                <a:cs typeface="Canva Sans"/>
                <a:sym typeface="Canva Sans"/>
              </a:rPr>
              <a:t>Selenium WebDriver + PyTest + Behave BDD with Page Object M</a:t>
            </a:r>
            <a:r>
              <a:rPr lang="en-US" sz="1400">
                <a:solidFill>
                  <a:srgbClr val="000000"/>
                </a:solidFill>
                <a:latin typeface="Canva Sans"/>
                <a:ea typeface="Canva Sans"/>
                <a:cs typeface="Canva Sans"/>
                <a:sym typeface="Canva Sans"/>
              </a:rPr>
              <a:t>odel (POM) architecture.</a:t>
            </a:r>
          </a:p>
          <a:p>
            <a:pPr algn="l">
              <a:lnSpc>
                <a:spcPts val="2239"/>
              </a:lnSpc>
            </a:pPr>
          </a:p>
          <a:p>
            <a:pPr algn="l">
              <a:lnSpc>
                <a:spcPts val="2239"/>
              </a:lnSpc>
            </a:pPr>
            <a:r>
              <a:rPr lang="en-US" b="true" sz="1599">
                <a:solidFill>
                  <a:srgbClr val="000000"/>
                </a:solidFill>
                <a:latin typeface="Canva Sans Bold"/>
                <a:ea typeface="Canva Sans Bold"/>
                <a:cs typeface="Canva Sans Bold"/>
                <a:sym typeface="Canva Sans Bold"/>
              </a:rPr>
              <a:t>2. </a:t>
            </a:r>
            <a:r>
              <a:rPr lang="en-US" b="true" sz="1599">
                <a:solidFill>
                  <a:srgbClr val="000000"/>
                </a:solidFill>
                <a:latin typeface="Canva Sans Bold"/>
                <a:ea typeface="Canva Sans Bold"/>
                <a:cs typeface="Canva Sans Bold"/>
                <a:sym typeface="Canva Sans Bold"/>
              </a:rPr>
              <a:t>TEST COVERAGE</a:t>
            </a:r>
          </a:p>
          <a:p>
            <a:pPr algn="l">
              <a:lnSpc>
                <a:spcPts val="1960"/>
              </a:lnSpc>
            </a:pPr>
            <a:r>
              <a:rPr lang="en-US" sz="1400">
                <a:solidFill>
                  <a:srgbClr val="000000"/>
                </a:solidFill>
                <a:latin typeface="Canva Sans"/>
                <a:ea typeface="Canva Sans"/>
                <a:cs typeface="Canva Sans"/>
                <a:sym typeface="Canva Sans"/>
              </a:rPr>
              <a:t>End-to-End, Positive &amp; Negative test cases across all team modules .</a:t>
            </a:r>
          </a:p>
          <a:p>
            <a:pPr algn="l">
              <a:lnSpc>
                <a:spcPts val="1960"/>
              </a:lnSpc>
            </a:pPr>
          </a:p>
          <a:p>
            <a:pPr algn="l">
              <a:lnSpc>
                <a:spcPts val="2239"/>
              </a:lnSpc>
            </a:pPr>
            <a:r>
              <a:rPr lang="en-US" b="true" sz="1599">
                <a:solidFill>
                  <a:srgbClr val="000000"/>
                </a:solidFill>
                <a:latin typeface="Canva Sans Bold"/>
                <a:ea typeface="Canva Sans Bold"/>
                <a:cs typeface="Canva Sans Bold"/>
                <a:sym typeface="Canva Sans Bold"/>
              </a:rPr>
              <a:t>3. </a:t>
            </a:r>
            <a:r>
              <a:rPr lang="en-US" b="true" sz="1599">
                <a:solidFill>
                  <a:srgbClr val="000000"/>
                </a:solidFill>
                <a:latin typeface="Canva Sans Bold"/>
                <a:ea typeface="Canva Sans Bold"/>
                <a:cs typeface="Canva Sans Bold"/>
                <a:sym typeface="Canva Sans Bold"/>
              </a:rPr>
              <a:t>ALLURE REPORTS</a:t>
            </a:r>
          </a:p>
          <a:p>
            <a:pPr algn="l">
              <a:lnSpc>
                <a:spcPts val="1960"/>
              </a:lnSpc>
            </a:pPr>
            <a:r>
              <a:rPr lang="en-US" sz="1400">
                <a:solidFill>
                  <a:srgbClr val="000000"/>
                </a:solidFill>
                <a:latin typeface="Canva Sans"/>
                <a:ea typeface="Canva Sans"/>
                <a:cs typeface="Canva Sans"/>
                <a:sym typeface="Canva Sans"/>
              </a:rPr>
              <a:t>Professional HTML reports with step-by-step execution flow, screenshots &amp; history.</a:t>
            </a:r>
          </a:p>
          <a:p>
            <a:pPr algn="l">
              <a:lnSpc>
                <a:spcPts val="1960"/>
              </a:lnSpc>
            </a:pPr>
          </a:p>
          <a:p>
            <a:pPr algn="l">
              <a:lnSpc>
                <a:spcPts val="2239"/>
              </a:lnSpc>
            </a:pPr>
            <a:r>
              <a:rPr lang="en-US" b="true" sz="1599">
                <a:solidFill>
                  <a:srgbClr val="000000"/>
                </a:solidFill>
                <a:latin typeface="Canva Sans Bold"/>
                <a:ea typeface="Canva Sans Bold"/>
                <a:cs typeface="Canva Sans Bold"/>
                <a:sym typeface="Canva Sans Bold"/>
              </a:rPr>
              <a:t>4. </a:t>
            </a:r>
            <a:r>
              <a:rPr lang="en-US" b="true" sz="1599">
                <a:solidFill>
                  <a:srgbClr val="000000"/>
                </a:solidFill>
                <a:latin typeface="Canva Sans Bold"/>
                <a:ea typeface="Canva Sans Bold"/>
                <a:cs typeface="Canva Sans Bold"/>
                <a:sym typeface="Canva Sans Bold"/>
              </a:rPr>
              <a:t>SCREENSHOT EVIDENCE</a:t>
            </a:r>
          </a:p>
          <a:p>
            <a:pPr algn="l">
              <a:lnSpc>
                <a:spcPts val="1960"/>
              </a:lnSpc>
            </a:pPr>
            <a:r>
              <a:rPr lang="en-US" sz="1400">
                <a:solidFill>
                  <a:srgbClr val="000000"/>
                </a:solidFill>
                <a:latin typeface="Canva Sans"/>
                <a:ea typeface="Canva Sans"/>
                <a:cs typeface="Canva Sans"/>
                <a:sym typeface="Canva Sans"/>
              </a:rPr>
              <a:t>Automated screenshot capture at each key execution stage for audit &amp; debugging.</a:t>
            </a:r>
          </a:p>
          <a:p>
            <a:pPr algn="l">
              <a:lnSpc>
                <a:spcPts val="2239"/>
              </a:lnSpc>
            </a:pPr>
          </a:p>
          <a:p>
            <a:pPr algn="l">
              <a:lnSpc>
                <a:spcPts val="2239"/>
              </a:lnSpc>
            </a:pPr>
            <a:r>
              <a:rPr lang="en-US" b="true" sz="1599">
                <a:solidFill>
                  <a:srgbClr val="000000"/>
                </a:solidFill>
                <a:latin typeface="Canva Sans Bold"/>
                <a:ea typeface="Canva Sans Bold"/>
                <a:cs typeface="Canva Sans Bold"/>
                <a:sym typeface="Canva Sans Bold"/>
              </a:rPr>
              <a:t>5. </a:t>
            </a:r>
            <a:r>
              <a:rPr lang="en-US" b="true" sz="1599">
                <a:solidFill>
                  <a:srgbClr val="000000"/>
                </a:solidFill>
                <a:latin typeface="Canva Sans Bold"/>
                <a:ea typeface="Canva Sans Bold"/>
                <a:cs typeface="Canva Sans Bold"/>
                <a:sym typeface="Canva Sans Bold"/>
              </a:rPr>
              <a:t>EXECUTION LOGS</a:t>
            </a:r>
          </a:p>
          <a:p>
            <a:pPr algn="l">
              <a:lnSpc>
                <a:spcPts val="1960"/>
              </a:lnSpc>
            </a:pPr>
            <a:r>
              <a:rPr lang="en-US" sz="1400">
                <a:solidFill>
                  <a:srgbClr val="000000"/>
                </a:solidFill>
                <a:latin typeface="Canva Sans"/>
                <a:ea typeface="Canva Sans"/>
                <a:cs typeface="Canva Sans"/>
                <a:sym typeface="Canva Sans"/>
              </a:rPr>
              <a:t>Detailed Python logging for execution tracking and failure diagnosis, the log reports were made.</a:t>
            </a:r>
          </a:p>
          <a:p>
            <a:pPr algn="l">
              <a:lnSpc>
                <a:spcPts val="1960"/>
              </a:lnSpc>
            </a:pPr>
          </a:p>
          <a:p>
            <a:pPr algn="l">
              <a:lnSpc>
                <a:spcPts val="2239"/>
              </a:lnSpc>
            </a:pPr>
            <a:r>
              <a:rPr lang="en-US" b="true" sz="1599">
                <a:solidFill>
                  <a:srgbClr val="000000"/>
                </a:solidFill>
                <a:latin typeface="Canva Sans Bold"/>
                <a:ea typeface="Canva Sans Bold"/>
                <a:cs typeface="Canva Sans Bold"/>
                <a:sym typeface="Canva Sans Bold"/>
              </a:rPr>
              <a:t>6. </a:t>
            </a:r>
            <a:r>
              <a:rPr lang="en-US" b="true" sz="1599">
                <a:solidFill>
                  <a:srgbClr val="000000"/>
                </a:solidFill>
                <a:latin typeface="Canva Sans Bold"/>
                <a:ea typeface="Canva Sans Bold"/>
                <a:cs typeface="Canva Sans Bold"/>
                <a:sym typeface="Canva Sans Bold"/>
              </a:rPr>
              <a:t>GITHUB REPOSITORY</a:t>
            </a:r>
          </a:p>
          <a:p>
            <a:pPr algn="l">
              <a:lnSpc>
                <a:spcPts val="1960"/>
              </a:lnSpc>
            </a:pPr>
            <a:r>
              <a:rPr lang="en-US" sz="1400">
                <a:solidFill>
                  <a:srgbClr val="000000"/>
                </a:solidFill>
                <a:latin typeface="Canva Sans"/>
                <a:ea typeface="Canva Sans"/>
                <a:cs typeface="Canva Sans"/>
                <a:sym typeface="Canva Sans"/>
              </a:rPr>
              <a:t> Full codebase with README, feature files, page objects, and data files version-    controlled.</a:t>
            </a:r>
          </a:p>
        </p:txBody>
      </p:sp>
      <p:sp>
        <p:nvSpPr>
          <p:cNvPr name="TextBox 5" id="5"/>
          <p:cNvSpPr txBox="true"/>
          <p:nvPr/>
        </p:nvSpPr>
        <p:spPr>
          <a:xfrm rot="0">
            <a:off x="2516074" y="478790"/>
            <a:ext cx="3168294" cy="448310"/>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anva Sans Bold"/>
                <a:ea typeface="Canva Sans Bold"/>
                <a:cs typeface="Canva Sans Bold"/>
                <a:sym typeface="Canva Sans Bold"/>
              </a:rPr>
              <a:t>DELIVERABLES</a:t>
            </a:r>
          </a:p>
        </p:txBody>
      </p:sp>
      <p:sp>
        <p:nvSpPr>
          <p:cNvPr name="Freeform 6" id="6"/>
          <p:cNvSpPr/>
          <p:nvPr/>
        </p:nvSpPr>
        <p:spPr>
          <a:xfrm flipH="false" flipV="false" rot="-5400000">
            <a:off x="4526695" y="22564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374295" y="2104078"/>
            <a:ext cx="7483383" cy="3275227"/>
          </a:xfrm>
          <a:custGeom>
            <a:avLst/>
            <a:gdLst/>
            <a:ahLst/>
            <a:cxnLst/>
            <a:rect r="r" b="b" t="t" l="l"/>
            <a:pathLst>
              <a:path h="3275227" w="7483383">
                <a:moveTo>
                  <a:pt x="0" y="0"/>
                </a:moveTo>
                <a:lnTo>
                  <a:pt x="7483383" y="0"/>
                </a:lnTo>
                <a:lnTo>
                  <a:pt x="7483383" y="3275227"/>
                </a:lnTo>
                <a:lnTo>
                  <a:pt x="0" y="3275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0794" y="169534"/>
            <a:ext cx="1068911" cy="1068911"/>
          </a:xfrm>
          <a:custGeom>
            <a:avLst/>
            <a:gdLst/>
            <a:ahLst/>
            <a:cxnLst/>
            <a:rect r="r" b="b" t="t" l="l"/>
            <a:pathLst>
              <a:path h="1068911" w="1068911">
                <a:moveTo>
                  <a:pt x="0" y="0"/>
                </a:moveTo>
                <a:lnTo>
                  <a:pt x="1068911" y="0"/>
                </a:lnTo>
                <a:lnTo>
                  <a:pt x="1068911" y="1068911"/>
                </a:lnTo>
                <a:lnTo>
                  <a:pt x="0" y="1068911"/>
                </a:lnTo>
                <a:lnTo>
                  <a:pt x="0" y="0"/>
                </a:lnTo>
                <a:close/>
              </a:path>
            </a:pathLst>
          </a:custGeom>
          <a:blipFill>
            <a:blip r:embed="rId4"/>
            <a:stretch>
              <a:fillRect l="0" t="0" r="0" b="0"/>
            </a:stretch>
          </a:blipFill>
        </p:spPr>
      </p:sp>
      <p:sp>
        <p:nvSpPr>
          <p:cNvPr name="TextBox 4" id="4"/>
          <p:cNvSpPr txBox="true"/>
          <p:nvPr/>
        </p:nvSpPr>
        <p:spPr>
          <a:xfrm rot="0">
            <a:off x="1815880" y="3170192"/>
            <a:ext cx="4488656" cy="1028700"/>
          </a:xfrm>
          <a:prstGeom prst="rect">
            <a:avLst/>
          </a:prstGeom>
        </p:spPr>
        <p:txBody>
          <a:bodyPr anchor="t" rtlCol="false" tIns="0" lIns="0" bIns="0" rIns="0">
            <a:spAutoFit/>
          </a:bodyPr>
          <a:lstStyle/>
          <a:p>
            <a:pPr algn="ctr">
              <a:lnSpc>
                <a:spcPts val="8400"/>
              </a:lnSpc>
              <a:spcBef>
                <a:spcPct val="0"/>
              </a:spcBef>
            </a:pPr>
            <a:r>
              <a:rPr lang="en-US" b="true" sz="6000">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DAHKkiEAAdk</dc:identifier>
  <dcterms:modified xsi:type="dcterms:W3CDTF">2011-08-01T06:04:30Z</dcterms:modified>
  <cp:revision>1</cp:revision>
  <dc:title>Domain Name: Booking System</dc:title>
</cp:coreProperties>
</file>